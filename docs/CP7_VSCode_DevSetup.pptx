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7A4DA-B920-C470-3A23-F7E4F5E80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0E4040-5B19-BFFE-C93A-3F6A00C42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16B4B0-FC81-A025-D1C3-96A44D89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E8C9C2-5EE1-5B78-6F8A-37632DDE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79B7A7-74C5-C5F0-1E26-88EDF5AA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7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A5A77-9929-AC8B-F6A9-29514512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60F567-C527-ABEF-007D-F34CB7047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9D6BD-C28B-2BD5-78F9-8DAD2E66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01EB77-AB6A-48D3-E3B9-8B74AA1F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F3718B-71F4-554F-EC36-BCF37F96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92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8F9B8-6A0A-66B6-8FAF-4C838BAA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A5A23D-AAEF-9844-07AE-601145EB1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4E415-B148-D5A5-EE75-4FDB8AEF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9711B-0E25-E173-942B-AB1F7BF9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34D8E-1E03-35F2-85A5-D8C8EC36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582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728FE-9DA7-EF4A-C1AE-179A58BD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96296-C328-B375-12F1-95B33A777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E31A42-9FFC-1EDA-3152-A7E294C0A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6F3FD3-40D8-CFD2-AB80-16166B89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920316-EA55-EFD8-81C5-00EADE04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CC542-3636-5941-4BF3-C606D5CD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75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2ED5E-BC2F-7825-6C53-B233F3A3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B020F-00E0-3266-B57E-FEBEAB2C3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414E79-8A43-4996-A099-3B588B91B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E3427C-BAA1-C77E-C1AA-CC1A00240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FCCF9-AC17-5067-AB32-6E2A59E94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965CAE-0ABF-8D4E-477A-EA3BC92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761E7B-2974-5E75-C6CF-7AB17CC3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1FBEE1-2A4A-ED99-2039-0E4C7E4B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5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8ADA2-18CD-B8C8-2410-1192ABF3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5F50B0-B721-7AFD-89B7-D9FC3EAC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5D4A12-9091-41DA-B138-A41B8824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8AA3F9-A568-B5A9-7089-804B3AA7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24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E6779A-D160-37A4-7310-2244D2AD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C0405F-8FDF-D5D4-AD7A-1C46B56D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568C02-2357-9C5C-E4B9-F3ECB667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45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1880B-43E0-04EA-DF65-F0834BDD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9256B-86DD-CDF2-C70B-E0B1F63D8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BBC315-9300-F6CE-9E87-3C37C9499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443763-0248-40B5-4102-78AFD76C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CD25CB-5D21-F168-DC53-4C18183B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4BF24E-8AD5-71F1-DE8D-4D59EFF5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01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DBBF2-922A-DE18-CBE5-4B9A6E60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467CAC-0BE3-381F-4E67-86A4B9D0B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1FEE39-3ADE-EABF-3328-AAC8DDC60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EE13ED-900C-AD39-4ADA-C74A8210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B70F36-7F58-FE4F-5FC7-DA95BB0C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7C326D-EF60-99F7-2D67-A983A19D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29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0335A-7EC4-0F0C-3198-6AF9A67E3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EDFD61-D79B-371D-27F4-9964E473B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14CDF-DC78-2996-7BDF-C7DC5717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0CBC1-6113-764C-A7D8-3788EC19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03EB1-A0B4-4578-B216-3A3C8A85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69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CE4820-DCF2-90E1-029F-3C6F6856A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9E2DAF-5B83-B069-75C8-6C6C26C09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FE84E2-1CCA-863B-78B2-9147E4DC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549D0E-BF6A-FF26-9CB8-16BD4AF5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C6ADF-B710-0592-3A36-4F9D0E7F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5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9E7925-0E3D-4FF5-B454-8490A606C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6238F6-3689-2350-E2F8-5F3F4D29B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B1D6F-FAE6-2DAE-709A-55A6677E7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3AABF-58A3-4898-8ED9-661EECF84E65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0286BB-3661-C027-5553-54BADE5E6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57637A-C82E-C193-D0DD-FDC363BD8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6E8E5-9F97-4FDA-BB94-0E9B359471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54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084FE2-F6B2-4787-314A-29CCE0B950A7}"/>
              </a:ext>
            </a:extLst>
          </p:cNvPr>
          <p:cNvSpPr/>
          <p:nvPr/>
        </p:nvSpPr>
        <p:spPr>
          <a:xfrm>
            <a:off x="0" y="482600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A71FD7-385D-00EE-9B32-3882CF16CBE7}"/>
              </a:ext>
            </a:extLst>
          </p:cNvPr>
          <p:cNvSpPr/>
          <p:nvPr/>
        </p:nvSpPr>
        <p:spPr>
          <a:xfrm>
            <a:off x="0" y="4927600"/>
            <a:ext cx="6858000" cy="254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6B02E-F7FD-D397-989E-C972D57DB0D8}"/>
              </a:ext>
            </a:extLst>
          </p:cNvPr>
          <p:cNvSpPr txBox="1"/>
          <p:nvPr/>
        </p:nvSpPr>
        <p:spPr>
          <a:xfrm>
            <a:off x="1016000" y="2540000"/>
            <a:ext cx="10160000" cy="66684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4000" b="1">
                <a:solidFill>
                  <a:srgbClr val="FFFFFF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855E5-86E1-7D26-13B4-C3013161E037}"/>
              </a:ext>
            </a:extLst>
          </p:cNvPr>
          <p:cNvSpPr txBox="1"/>
          <p:nvPr/>
        </p:nvSpPr>
        <p:spPr>
          <a:xfrm>
            <a:off x="1016000" y="3429000"/>
            <a:ext cx="10160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>
                <a:solidFill>
                  <a:srgbClr val="94A3B8"/>
                </a:solidFill>
                <a:latin typeface="맑은 고딕" panose="020B0503020000020004" pitchFamily="50" charset="-127"/>
              </a:rPr>
              <a:t>Spring Boot 3.3.5 · Java 21 · Gradle Multi-Module</a:t>
            </a:r>
            <a:endParaRPr lang="ko-KR" altLang="en-US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33C37-E880-355A-CCBC-7D6D07F64BBF}"/>
              </a:ext>
            </a:extLst>
          </p:cNvPr>
          <p:cNvSpPr txBox="1"/>
          <p:nvPr/>
        </p:nvSpPr>
        <p:spPr>
          <a:xfrm>
            <a:off x="1016000" y="5080000"/>
            <a:ext cx="10160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400">
                <a:solidFill>
                  <a:srgbClr val="0EA5E9"/>
                </a:solidFill>
                <a:latin typeface="맑은 고딕" panose="020B0503020000020004" pitchFamily="50" charset="-127"/>
              </a:rPr>
              <a:t>Docker · MySQL · Redis · MyBatis · MapStruct · Quartz</a:t>
            </a:r>
            <a:endParaRPr lang="ko-KR" altLang="en-US" sz="1400">
              <a:solidFill>
                <a:srgbClr val="0EA5E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872DD-5C70-4E94-1A97-C956E16287D6}"/>
              </a:ext>
            </a:extLst>
          </p:cNvPr>
          <p:cNvSpPr txBox="1"/>
          <p:nvPr/>
        </p:nvSpPr>
        <p:spPr>
          <a:xfrm>
            <a:off x="1016000" y="6096000"/>
            <a:ext cx="10160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100">
                <a:solidFill>
                  <a:srgbClr val="64748B"/>
                </a:solidFill>
                <a:latin typeface="맑은 고딕" panose="020B0503020000020004" pitchFamily="50" charset="-127"/>
              </a:rPr>
              <a:t>작성일 </a:t>
            </a:r>
            <a:r>
              <a:rPr lang="en-US" altLang="ko-KR" sz="1100">
                <a:solidFill>
                  <a:srgbClr val="64748B"/>
                </a:solidFill>
                <a:latin typeface="맑은 고딕" panose="020B0503020000020004" pitchFamily="50" charset="-127"/>
              </a:rPr>
              <a:t>2026-06-02   ·   Paycoms</a:t>
            </a:r>
            <a:endParaRPr lang="ko-KR" altLang="en-US" sz="11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126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6D0B084-B1A2-5A6F-CE1A-10B5D71E8197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04FAE6-775C-1674-951F-A3D2FDCC9624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07326-3B3C-E708-C9E8-C7EB6EF0C80F}"/>
              </a:ext>
            </a:extLst>
          </p:cNvPr>
          <p:cNvSpPr txBox="1"/>
          <p:nvPr/>
        </p:nvSpPr>
        <p:spPr>
          <a:xfrm>
            <a:off x="3048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CE2D7-388C-727C-14FE-009D6FE8C7C2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140D6-6EF9-056A-A052-1EA9FAD44532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2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18C32-99F3-2DAD-DC34-B835D7FCE2A4}"/>
              </a:ext>
            </a:extLst>
          </p:cNvPr>
          <p:cNvSpPr txBox="1"/>
          <p:nvPr/>
        </p:nvSpPr>
        <p:spPr>
          <a:xfrm>
            <a:off x="1016000" y="1397000"/>
            <a:ext cx="10160000" cy="3323987"/>
          </a:xfrm>
          <a:prstGeom prst="rect">
            <a:avLst/>
          </a:prstGeom>
          <a:noFill/>
        </p:spPr>
        <p:txBody>
          <a:bodyPr vert="horz" wrap="square" lIns="76200" rIns="76200" rtlCol="0">
            <a:spAutoFit/>
          </a:bodyPr>
          <a:lstStyle/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1. 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사전 준비물 </a:t>
            </a: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(JDK 21 · Docker · VSCode)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2.  VSCode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확장 설치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3. 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프로젝트 클론 </a:t>
            </a: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워크스페이스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4.  MySQL / Redis Docker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구성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5. 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환경변수 </a:t>
            </a: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(.env)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6. 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빌드 </a:t>
            </a: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모듈 실행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7. 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자주 쓰는 </a:t>
            </a: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Gradle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작업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8. 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트러블슈팅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9. 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일상 개발 사이클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10.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부록 </a:t>
            </a: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모듈 책임 </a:t>
            </a:r>
            <a:r>
              <a:rPr lang="en-US" altLang="ko-KR">
                <a:solidFill>
                  <a:srgbClr val="0F172A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>
                <a:solidFill>
                  <a:srgbClr val="0F172A"/>
                </a:solidFill>
                <a:latin typeface="맑은 고딕" panose="020B0503020000020004" pitchFamily="50" charset="-127"/>
              </a:rPr>
              <a:t>레이어 컨벤션</a:t>
            </a:r>
          </a:p>
        </p:txBody>
      </p:sp>
    </p:spTree>
    <p:extLst>
      <p:ext uri="{BB962C8B-B14F-4D97-AF65-F5344CB8AC3E}">
        <p14:creationId xmlns:p14="http://schemas.microsoft.com/office/powerpoint/2010/main" val="318191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86015E-C4B1-03E3-E526-D6E582292956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24B005-9CB0-AFC0-BF7F-9FC046B7034C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F8D0EA-953F-A47B-7DFF-55C58FAB7061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3D0C2-8EA3-8237-0144-2D8A8D250874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3C83F-F35D-3876-6CAD-0904C8724266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사전 준비물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007A4-799C-11B7-4F2B-0981B5381FEE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A5FE6-96DA-44B6-B5C5-89AAFBCBA99F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3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A9C28C0-ED80-3B0E-69E6-E0AC7B70F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077603"/>
              </p:ext>
            </p:extLst>
          </p:nvPr>
        </p:nvGraphicFramePr>
        <p:xfrm>
          <a:off x="762000" y="1397000"/>
          <a:ext cx="1066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02391731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50068739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0175739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항목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버전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비고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06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JDK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21 (Temurin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권장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루트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build.gradle toolchain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2564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VSCode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최신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20665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Docker Desktop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최신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MySQL/Redis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미설치 시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6599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Git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최신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12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Gradle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불필요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gradlew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709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8F110EA-F403-7FE8-460C-FB087D54BB98}"/>
              </a:ext>
            </a:extLst>
          </p:cNvPr>
          <p:cNvSpPr txBox="1"/>
          <p:nvPr/>
        </p:nvSpPr>
        <p:spPr>
          <a:xfrm>
            <a:off x="762000" y="3937000"/>
            <a:ext cx="10668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</a:rPr>
              <a:t>JDK </a:t>
            </a:r>
            <a:r>
              <a:rPr lang="ko-KR" altLang="en-US" sz="1600" b="1">
                <a:solidFill>
                  <a:srgbClr val="2563EB"/>
                </a:solidFill>
                <a:latin typeface="맑은 고딕" panose="020B0503020000020004" pitchFamily="50" charset="-127"/>
              </a:rPr>
              <a:t>설치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34B97D-B8C4-7CE7-BE90-65E09923E938}"/>
              </a:ext>
            </a:extLst>
          </p:cNvPr>
          <p:cNvSpPr/>
          <p:nvPr/>
        </p:nvSpPr>
        <p:spPr>
          <a:xfrm>
            <a:off x="762000" y="4381500"/>
            <a:ext cx="10668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02CF5-D1C9-01A2-EED4-8D75DA92585D}"/>
              </a:ext>
            </a:extLst>
          </p:cNvPr>
          <p:cNvSpPr txBox="1"/>
          <p:nvPr/>
        </p:nvSpPr>
        <p:spPr>
          <a:xfrm>
            <a:off x="863600" y="4457700"/>
            <a:ext cx="104648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java -version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# openjdk version "21.x.x" </a:t>
            </a:r>
            <a:r>
              <a:rPr lang="ko-KR" altLang="en-US" sz="1200">
                <a:solidFill>
                  <a:srgbClr val="E2E8F0"/>
                </a:solidFill>
                <a:latin typeface="Consolas" panose="020B0609020204030204" pitchFamily="49" charset="0"/>
              </a:rPr>
              <a:t>가 나와야 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085CE5-F95E-7745-C592-9D2764B558DE}"/>
              </a:ext>
            </a:extLst>
          </p:cNvPr>
          <p:cNvSpPr txBox="1"/>
          <p:nvPr/>
        </p:nvSpPr>
        <p:spPr>
          <a:xfrm>
            <a:off x="762000" y="5270500"/>
            <a:ext cx="1066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JAVA_HOME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환경변수를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JDK 21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로 설정하세요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 CLI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빌드 호환을 위해 권장합니다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91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6CECC7-0A49-B355-83A5-1526814C0D9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24CD63-3AFB-1D9A-C206-19C416013E03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90D2C6-B343-215B-79F6-D90CF35AAE9C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EDBE1-F7C0-2613-6BB5-4AF5D22E3D5D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A82BD-2538-162B-422A-2739AB134B13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VSCode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확장 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E1DEB-EBF9-1A13-1D9B-169E0272F7C1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79C5E-FDEB-4E3D-EBF8-25EE8AC1ECB1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4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747E4-0B5D-E204-9C72-CE2CCD82D6D0}"/>
              </a:ext>
            </a:extLst>
          </p:cNvPr>
          <p:cNvSpPr txBox="1"/>
          <p:nvPr/>
        </p:nvSpPr>
        <p:spPr>
          <a:xfrm>
            <a:off x="762000" y="1333500"/>
            <a:ext cx="5080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600" b="1">
                <a:solidFill>
                  <a:srgbClr val="2563EB"/>
                </a:solidFill>
                <a:latin typeface="맑은 고딕" panose="020B0503020000020004" pitchFamily="50" charset="-127"/>
              </a:rPr>
              <a:t>필수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E4CAE-64F7-665A-EE1B-4D2FD700C1DC}"/>
              </a:ext>
            </a:extLst>
          </p:cNvPr>
          <p:cNvSpPr txBox="1"/>
          <p:nvPr/>
        </p:nvSpPr>
        <p:spPr>
          <a:xfrm>
            <a:off x="762000" y="1752600"/>
            <a:ext cx="5080000" cy="795089"/>
          </a:xfrm>
          <a:prstGeom prst="rect">
            <a:avLst/>
          </a:prstGeom>
          <a:noFill/>
        </p:spPr>
        <p:txBody>
          <a:bodyPr vert="horz" wrap="square" lIns="76200" rIns="76200" rtlCol="0">
            <a:spAutoFit/>
          </a:bodyPr>
          <a:lstStyle/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Extension Pack for Java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Gradle for Java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Spring Boot Extension Pack</a:t>
            </a:r>
            <a:endParaRPr lang="ko-KR" altLang="en-US" sz="1300">
              <a:solidFill>
                <a:srgbClr val="0F17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1459C0-733E-3538-A0D2-E3CA058A4EAB}"/>
              </a:ext>
            </a:extLst>
          </p:cNvPr>
          <p:cNvSpPr txBox="1"/>
          <p:nvPr/>
        </p:nvSpPr>
        <p:spPr>
          <a:xfrm>
            <a:off x="6350000" y="1333500"/>
            <a:ext cx="5080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600" b="1">
                <a:solidFill>
                  <a:srgbClr val="0EA5E9"/>
                </a:solidFill>
                <a:latin typeface="맑은 고딕" panose="020B0503020000020004" pitchFamily="50" charset="-127"/>
              </a:rPr>
              <a:t>권장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FD248-5BDE-4732-EDD0-FA432D6C2C91}"/>
              </a:ext>
            </a:extLst>
          </p:cNvPr>
          <p:cNvSpPr txBox="1"/>
          <p:nvPr/>
        </p:nvSpPr>
        <p:spPr>
          <a:xfrm>
            <a:off x="6350000" y="1752600"/>
            <a:ext cx="5080000" cy="1549142"/>
          </a:xfrm>
          <a:prstGeom prst="rect">
            <a:avLst/>
          </a:prstGeom>
          <a:noFill/>
        </p:spPr>
        <p:txBody>
          <a:bodyPr vert="horz" wrap="square" lIns="76200" rIns="76200" rtlCol="0">
            <a:spAutoFit/>
          </a:bodyPr>
          <a:lstStyle/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Docker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Database Client (MySQL/Redis GUI)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REST Client / Thunder Client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MyBatisX (Mapper ↔ XML)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Lombok Annotations Support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EditorConfig for VS Code</a:t>
            </a:r>
            <a:endParaRPr lang="ko-KR" altLang="en-US" sz="1300">
              <a:solidFill>
                <a:srgbClr val="0F17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74C8C-520D-A06C-5777-9B16461D6DA4}"/>
              </a:ext>
            </a:extLst>
          </p:cNvPr>
          <p:cNvSpPr txBox="1"/>
          <p:nvPr/>
        </p:nvSpPr>
        <p:spPr>
          <a:xfrm>
            <a:off x="762000" y="5207000"/>
            <a:ext cx="1066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좌측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Extensions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패널에서 위 이름으로 검색 후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Install.</a:t>
            </a:r>
            <a:endParaRPr lang="ko-KR" altLang="en-US" sz="12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522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599613-6A6E-24F5-F6C9-D70C304DC17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DDBE80-C176-A14B-A486-33A296912E24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0B5C6D-40FC-F89E-CB8B-48E043CE9585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083BF-1A3F-5927-B207-2461B2219433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98378-4411-8459-9364-8B7F9B2E3A2F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프로젝트 클론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워크스페이스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7E3CB-07FF-7A44-6C55-D2F6E62A7A41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30D50-6BEC-4210-A76B-068078D62C19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5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B31E76-A4B5-D678-300A-EA375CDAF17E}"/>
              </a:ext>
            </a:extLst>
          </p:cNvPr>
          <p:cNvSpPr/>
          <p:nvPr/>
        </p:nvSpPr>
        <p:spPr>
          <a:xfrm>
            <a:off x="762000" y="1651000"/>
            <a:ext cx="10668000" cy="1397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5C50F1-7837-E3E5-3D2D-0B7A5D472DF0}"/>
              </a:ext>
            </a:extLst>
          </p:cNvPr>
          <p:cNvSpPr txBox="1"/>
          <p:nvPr/>
        </p:nvSpPr>
        <p:spPr>
          <a:xfrm>
            <a:off x="863600" y="1727200"/>
            <a:ext cx="10464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git clone &lt;repo-url&gt; cp7</a:t>
            </a:r>
          </a:p>
          <a:p>
            <a:r>
              <a:rPr lang="fr-FR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cd cp7</a:t>
            </a:r>
          </a:p>
          <a:p>
            <a:r>
              <a:rPr lang="fr-FR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code .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4141F-40CA-C588-35A0-970ACC6C0C81}"/>
              </a:ext>
            </a:extLst>
          </p:cNvPr>
          <p:cNvSpPr txBox="1"/>
          <p:nvPr/>
        </p:nvSpPr>
        <p:spPr>
          <a:xfrm>
            <a:off x="762000" y="3429000"/>
            <a:ext cx="10668000" cy="841256"/>
          </a:xfrm>
          <a:prstGeom prst="rect">
            <a:avLst/>
          </a:prstGeom>
          <a:noFill/>
        </p:spPr>
        <p:txBody>
          <a:bodyPr vert="horz" wrap="square" lIns="76200" rIns="76200" rtlCol="0">
            <a:spAutoFit/>
          </a:bodyPr>
          <a:lstStyle/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처음 열면 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Java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확장이 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Gradle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프로젝트를 자동 동기화 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수 분 소요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)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우하단 상태바에 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"Java: Importing..."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표시 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완료까지 대기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동기화 완료 후 좌측 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Spring Boot Dashboard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에 모듈 목록이 나타남</a:t>
            </a:r>
          </a:p>
        </p:txBody>
      </p:sp>
    </p:spTree>
    <p:extLst>
      <p:ext uri="{BB962C8B-B14F-4D97-AF65-F5344CB8AC3E}">
        <p14:creationId xmlns:p14="http://schemas.microsoft.com/office/powerpoint/2010/main" val="1896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0AA1DE0-BD7A-8CC8-D005-5FDD04C7158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08A413-231B-1A8D-3804-346516D0CB0D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B4A296-56A6-E35C-45B5-8373C3A7E81D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8A948-AF60-8E5D-4D9D-EB19F411047B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CB904-38CD-1648-311B-EBCDA5159106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MySQL / Redis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구성 ① 한 줄 기동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BDABE-89BD-338C-EBAD-1F11468DF36E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790EF-1D2A-637E-E043-39E51F77609F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6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D0655-03E3-DB08-F8A3-0E9E8EF012F1}"/>
              </a:ext>
            </a:extLst>
          </p:cNvPr>
          <p:cNvSpPr txBox="1"/>
          <p:nvPr/>
        </p:nvSpPr>
        <p:spPr>
          <a:xfrm>
            <a:off x="762000" y="1397000"/>
            <a:ext cx="10668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300">
                <a:solidFill>
                  <a:srgbClr val="64748B"/>
                </a:solidFill>
                <a:latin typeface="맑은 고딕" panose="020B0503020000020004" pitchFamily="50" charset="-127"/>
              </a:rPr>
              <a:t>프로젝트 루트의 </a:t>
            </a:r>
            <a:r>
              <a:rPr lang="en-US" altLang="ko-KR" sz="1300">
                <a:solidFill>
                  <a:srgbClr val="64748B"/>
                </a:solidFill>
                <a:latin typeface="맑은 고딕" panose="020B0503020000020004" pitchFamily="50" charset="-127"/>
              </a:rPr>
              <a:t>docker/docker-compose.yml </a:t>
            </a:r>
            <a:r>
              <a:rPr lang="ko-KR" altLang="en-US" sz="1300">
                <a:solidFill>
                  <a:srgbClr val="64748B"/>
                </a:solidFill>
                <a:latin typeface="맑은 고딕" panose="020B0503020000020004" pitchFamily="50" charset="-127"/>
              </a:rPr>
              <a:t>사용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033D09-401F-C5F5-2063-B970BA663D16}"/>
              </a:ext>
            </a:extLst>
          </p:cNvPr>
          <p:cNvSpPr/>
          <p:nvPr/>
        </p:nvSpPr>
        <p:spPr>
          <a:xfrm>
            <a:off x="762000" y="1778000"/>
            <a:ext cx="10668000" cy="635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29960-BEE9-86D1-B931-5FEBABFDA207}"/>
              </a:ext>
            </a:extLst>
          </p:cNvPr>
          <p:cNvSpPr txBox="1"/>
          <p:nvPr/>
        </p:nvSpPr>
        <p:spPr>
          <a:xfrm>
            <a:off x="863600" y="1854200"/>
            <a:ext cx="1046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docker compose -f docker/docker-compose.yml up -d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EFA6AE3-7B4F-D0C4-B75B-3EFF32C8D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13117"/>
              </p:ext>
            </p:extLst>
          </p:nvPr>
        </p:nvGraphicFramePr>
        <p:xfrm>
          <a:off x="762000" y="2667000"/>
          <a:ext cx="1066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815249246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25062696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1972127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컨테이너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포트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호스트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용도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09353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cp7-mysql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3306 + 33306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두 포트 동시 노출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—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모든 모듈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yml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그대로 동작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05315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cp7-redis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6379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AOF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활성화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59339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Database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cp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utf8mb4 / utf8mb4_unicode_ci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82680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F27B9BF-8FB5-374A-7420-4B5720C48817}"/>
              </a:ext>
            </a:extLst>
          </p:cNvPr>
          <p:cNvSpPr txBox="1"/>
          <p:nvPr/>
        </p:nvSpPr>
        <p:spPr>
          <a:xfrm>
            <a:off x="762000" y="5143500"/>
            <a:ext cx="1066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⚠ 로컬에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MySQL 8.x · Redis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가 이미 같은 계정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포트로 떠있다면 이 단계는 생략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38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52C69C-9CC9-B8B2-F9C5-DC8CD0A87A0A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A1C66-2B37-417C-5682-444F58FCD1CC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F43AA2-C944-603B-26AB-211714B13C79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4681B-2FA2-946E-07EB-253D42CB2506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867C7-D370-FEC2-6C53-C9F5D9F9BCA4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MySQL / Redis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구성 ② 초기 사용자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5E4E3E-D49E-0B79-12E5-7BCC9E1B18D9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7883C-F906-56F0-718E-8134F61D9931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7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B4800-979C-CF56-2521-4A2A3166875C}"/>
              </a:ext>
            </a:extLst>
          </p:cNvPr>
          <p:cNvSpPr txBox="1"/>
          <p:nvPr/>
        </p:nvSpPr>
        <p:spPr>
          <a:xfrm>
            <a:off x="762000" y="1333500"/>
            <a:ext cx="10668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맑은 고딕" panose="020B0503020000020004" pitchFamily="50" charset="-127"/>
              </a:rPr>
              <a:t>docker/mysql/init/01-users.sql </a:t>
            </a:r>
            <a:r>
              <a:rPr lang="ko-KR" altLang="en-US" sz="1300">
                <a:solidFill>
                  <a:srgbClr val="64748B"/>
                </a:solidFill>
                <a:latin typeface="맑은 고딕" panose="020B0503020000020004" pitchFamily="50" charset="-127"/>
              </a:rPr>
              <a:t>가 최초 </a:t>
            </a:r>
            <a:r>
              <a:rPr lang="en-US" altLang="ko-KR" sz="1300">
                <a:solidFill>
                  <a:srgbClr val="64748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300">
                <a:solidFill>
                  <a:srgbClr val="64748B"/>
                </a:solidFill>
                <a:latin typeface="맑은 고딕" panose="020B0503020000020004" pitchFamily="50" charset="-127"/>
              </a:rPr>
              <a:t>회 자동 실행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CB24B38-99A0-A44F-E0DD-2F95D8548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561397"/>
              </p:ext>
            </p:extLst>
          </p:nvPr>
        </p:nvGraphicFramePr>
        <p:xfrm>
          <a:off x="762000" y="1778000"/>
          <a:ext cx="10668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794627634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22010298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231700289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사용자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사용 모듈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563880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cleanpay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Paycoms!2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domain-api · domain-admin (port 33306)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67500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root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1111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domain-batch · domain-bankro (port 3306)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6238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3D5C47-5EF6-8215-81DE-3C57E25B3834}"/>
              </a:ext>
            </a:extLst>
          </p:cNvPr>
          <p:cNvSpPr txBox="1"/>
          <p:nvPr/>
        </p:nvSpPr>
        <p:spPr>
          <a:xfrm>
            <a:off x="762000" y="3683000"/>
            <a:ext cx="1066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동작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2FDBE1-1B28-BEB3-F170-74FE9A8B9C5E}"/>
              </a:ext>
            </a:extLst>
          </p:cNvPr>
          <p:cNvSpPr/>
          <p:nvPr/>
        </p:nvSpPr>
        <p:spPr>
          <a:xfrm>
            <a:off x="762000" y="4064000"/>
            <a:ext cx="10668000" cy="889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61EE3-907A-B782-B07B-9160A24F67B4}"/>
              </a:ext>
            </a:extLst>
          </p:cNvPr>
          <p:cNvSpPr txBox="1"/>
          <p:nvPr/>
        </p:nvSpPr>
        <p:spPr>
          <a:xfrm>
            <a:off x="863600" y="4140200"/>
            <a:ext cx="104648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docker exec -it cp7-mysql mysql -ucleanpay -pPaycoms!2 -e "SHOW DATABASES;"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docker exec -it cp7-redis redis-cli ping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AAEB55-755A-8E50-0F58-3CB6AA4680C9}"/>
              </a:ext>
            </a:extLst>
          </p:cNvPr>
          <p:cNvSpPr txBox="1"/>
          <p:nvPr/>
        </p:nvSpPr>
        <p:spPr>
          <a:xfrm>
            <a:off x="762000" y="5080000"/>
            <a:ext cx="1066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⚠ 볼륨 존재 시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init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미실행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초기화하려면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docker compose down -v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후 재기동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92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C57BD00-504B-56D2-DB29-244CF8283C36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53D447-3489-AAD7-D030-CC08D0B4D049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8AEF04-D12B-E6E5-EADD-1F90A25E8B21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F0446-45B3-49DD-8571-F554AED201EC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16A67-9EE8-7897-F30B-C7664EEDACB1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환경변수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(.env)</a:t>
            </a:r>
            <a:endParaRPr lang="ko-KR" altLang="en-US" sz="2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958B1-4F0A-EC5F-FD2D-4A45A9A3466E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79798-5ACA-1787-2FB3-F5E8EB14DAD4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8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6BAA8-CAC7-5ACE-22AD-63287B594130}"/>
              </a:ext>
            </a:extLst>
          </p:cNvPr>
          <p:cNvSpPr txBox="1"/>
          <p:nvPr/>
        </p:nvSpPr>
        <p:spPr>
          <a:xfrm>
            <a:off x="762000" y="1397000"/>
            <a:ext cx="10668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300">
                <a:solidFill>
                  <a:srgbClr val="64748B"/>
                </a:solidFill>
                <a:latin typeface="맑은 고딕" panose="020B0503020000020004" pitchFamily="50" charset="-127"/>
              </a:rPr>
              <a:t>.vscode/launch.json </a:t>
            </a:r>
            <a:r>
              <a:rPr lang="ko-KR" altLang="en-US" sz="1300">
                <a:solidFill>
                  <a:srgbClr val="64748B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300">
                <a:solidFill>
                  <a:srgbClr val="64748B"/>
                </a:solidFill>
                <a:latin typeface="맑은 고딕" panose="020B0503020000020004" pitchFamily="50" charset="-127"/>
              </a:rPr>
              <a:t>envFile </a:t>
            </a:r>
            <a:r>
              <a:rPr lang="ko-KR" altLang="en-US" sz="1300">
                <a:solidFill>
                  <a:srgbClr val="64748B"/>
                </a:solidFill>
                <a:latin typeface="맑은 고딕" panose="020B0503020000020004" pitchFamily="50" charset="-127"/>
              </a:rPr>
              <a:t>이 자동 로드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2EC73B-D9B3-2EFE-F1D6-E94FA356DAE3}"/>
              </a:ext>
            </a:extLst>
          </p:cNvPr>
          <p:cNvSpPr/>
          <p:nvPr/>
        </p:nvSpPr>
        <p:spPr>
          <a:xfrm>
            <a:off x="762000" y="1803400"/>
            <a:ext cx="10668000" cy="4572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45479-33BC-8F2D-88FC-E9DABC0DDFF1}"/>
              </a:ext>
            </a:extLst>
          </p:cNvPr>
          <p:cNvSpPr txBox="1"/>
          <p:nvPr/>
        </p:nvSpPr>
        <p:spPr>
          <a:xfrm>
            <a:off x="863600" y="1879600"/>
            <a:ext cx="1046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Copy-Item .env.example .env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23BC8-4719-0CE0-62E8-51ADD526A025}"/>
              </a:ext>
            </a:extLst>
          </p:cNvPr>
          <p:cNvSpPr/>
          <p:nvPr/>
        </p:nvSpPr>
        <p:spPr>
          <a:xfrm>
            <a:off x="762000" y="2413000"/>
            <a:ext cx="10668000" cy="3175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6DC97D-8189-10E6-85BD-8CF4C3BAE4E4}"/>
              </a:ext>
            </a:extLst>
          </p:cNvPr>
          <p:cNvSpPr txBox="1"/>
          <p:nvPr/>
        </p:nvSpPr>
        <p:spPr>
          <a:xfrm>
            <a:off x="863600" y="2489200"/>
            <a:ext cx="104648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.env </a:t>
            </a:r>
            <a:r>
              <a:rPr lang="ko-KR" altLang="en-US" sz="1200">
                <a:solidFill>
                  <a:srgbClr val="E2E8F0"/>
                </a:solidFill>
                <a:latin typeface="Consolas" panose="020B0609020204030204" pitchFamily="49" charset="0"/>
              </a:rPr>
              <a:t>예시 </a:t>
            </a:r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(.env.example </a:t>
            </a:r>
            <a:r>
              <a:rPr lang="ko-KR" altLang="en-US" sz="1200">
                <a:solidFill>
                  <a:srgbClr val="E2E8F0"/>
                </a:solidFill>
                <a:latin typeface="Consolas" panose="020B0609020204030204" pitchFamily="49" charset="0"/>
              </a:rPr>
              <a:t>참고</a:t>
            </a:r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ko-KR" sz="1200">
              <a:solidFill>
                <a:srgbClr val="E2E8F0"/>
              </a:solidFill>
              <a:latin typeface="Consolas" panose="020B0609020204030204" pitchFamily="49" charset="0"/>
            </a:endParaRP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DB_HOST=127.0.0.1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DB_PORT=33306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DB_NAME=cp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DB_USERNAME=cleanpay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DB_PASSWORD=Paycoms!2</a:t>
            </a:r>
          </a:p>
          <a:p>
            <a:endParaRPr lang="en-US" altLang="ko-KR" sz="1200">
              <a:solidFill>
                <a:srgbClr val="E2E8F0"/>
              </a:solidFill>
              <a:latin typeface="Consolas" panose="020B0609020204030204" pitchFamily="49" charset="0"/>
            </a:endParaRP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REDIS_HOST=localhost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REDIS_PORT=6379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5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A4400B-D9E1-0067-D388-04C607A72CA1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F9585F-E6BC-1F2A-8FF5-2E126AD1DB01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2B44EF-C421-0A10-A13B-EBC97FA81447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C75B0-FECB-AF72-F23E-DF8CCB07235D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6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D155F-E122-6A4B-9761-05F3ACB56EFB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빌드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2EABD-435D-4B81-CB4A-8B1951C12CC7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1B839-9A69-3F84-0A88-BE48A5AA6D5B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9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2114D-1BCC-E589-2CFE-74763E420D05}"/>
              </a:ext>
            </a:extLst>
          </p:cNvPr>
          <p:cNvSpPr txBox="1"/>
          <p:nvPr/>
        </p:nvSpPr>
        <p:spPr>
          <a:xfrm>
            <a:off x="762000" y="1397000"/>
            <a:ext cx="1066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전체 빌드 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테스트 제외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)</a:t>
            </a:r>
            <a:endParaRPr lang="ko-KR" altLang="en-US" sz="1400" b="1">
              <a:solidFill>
                <a:srgbClr val="2563E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6EC012-CCD3-A1D1-4F52-3C782F146E60}"/>
              </a:ext>
            </a:extLst>
          </p:cNvPr>
          <p:cNvSpPr/>
          <p:nvPr/>
        </p:nvSpPr>
        <p:spPr>
          <a:xfrm>
            <a:off x="762000" y="1841500"/>
            <a:ext cx="10668000" cy="635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ECEAE-9AE7-B568-E234-4F2B3C295641}"/>
              </a:ext>
            </a:extLst>
          </p:cNvPr>
          <p:cNvSpPr txBox="1"/>
          <p:nvPr/>
        </p:nvSpPr>
        <p:spPr>
          <a:xfrm>
            <a:off x="863600" y="1917700"/>
            <a:ext cx="1046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./gradlew clean build -x test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CA787-20EC-3697-34D5-49530978A58A}"/>
              </a:ext>
            </a:extLst>
          </p:cNvPr>
          <p:cNvSpPr txBox="1"/>
          <p:nvPr/>
        </p:nvSpPr>
        <p:spPr>
          <a:xfrm>
            <a:off x="762000" y="2730500"/>
            <a:ext cx="1066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특정 모듈만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97085B-7977-2D51-B0B6-BAB8C52B4599}"/>
              </a:ext>
            </a:extLst>
          </p:cNvPr>
          <p:cNvSpPr/>
          <p:nvPr/>
        </p:nvSpPr>
        <p:spPr>
          <a:xfrm>
            <a:off x="762000" y="3175000"/>
            <a:ext cx="10668000" cy="635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2E8F5-178B-4BFC-A271-7072CCFBA8EC}"/>
              </a:ext>
            </a:extLst>
          </p:cNvPr>
          <p:cNvSpPr txBox="1"/>
          <p:nvPr/>
        </p:nvSpPr>
        <p:spPr>
          <a:xfrm>
            <a:off x="863600" y="3251200"/>
            <a:ext cx="1046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./gradlew :domain-api:bootJar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BA28D0-6EDE-5560-A9FE-787B1367A265}"/>
              </a:ext>
            </a:extLst>
          </p:cNvPr>
          <p:cNvSpPr txBox="1"/>
          <p:nvPr/>
        </p:nvSpPr>
        <p:spPr>
          <a:xfrm>
            <a:off x="762000" y="4064000"/>
            <a:ext cx="1066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첫 빌드는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Gradle 8.x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와 의존성을 받느라 시간이 걸립니다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7E21FB-5163-6EB1-2457-269B36B236A6}"/>
              </a:ext>
            </a:extLst>
          </p:cNvPr>
          <p:cNvSpPr txBox="1"/>
          <p:nvPr/>
        </p:nvSpPr>
        <p:spPr>
          <a:xfrm>
            <a:off x="762000" y="4572000"/>
            <a:ext cx="10668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300" b="1">
                <a:solidFill>
                  <a:srgbClr val="0F172A"/>
                </a:solidFill>
                <a:latin typeface="맑은 고딕" panose="020B0503020000020004" pitchFamily="50" charset="-127"/>
              </a:rPr>
              <a:t>의존성 트리 확인</a:t>
            </a:r>
            <a:r>
              <a:rPr lang="en-US" altLang="ko-KR" sz="1300" b="1">
                <a:solidFill>
                  <a:srgbClr val="0F172A"/>
                </a:solidFill>
                <a:latin typeface="맑은 고딕" panose="020B0503020000020004" pitchFamily="50" charset="-127"/>
              </a:rPr>
              <a:t>:</a:t>
            </a:r>
            <a:endParaRPr lang="ko-KR" altLang="en-US" sz="1300" b="1">
              <a:solidFill>
                <a:srgbClr val="0F17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163C03-1949-40FC-73B4-06231C3C2FB3}"/>
              </a:ext>
            </a:extLst>
          </p:cNvPr>
          <p:cNvSpPr/>
          <p:nvPr/>
        </p:nvSpPr>
        <p:spPr>
          <a:xfrm>
            <a:off x="762000" y="5016500"/>
            <a:ext cx="10668000" cy="635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C7A679-39B1-4882-D035-67FB1E662BEF}"/>
              </a:ext>
            </a:extLst>
          </p:cNvPr>
          <p:cNvSpPr txBox="1"/>
          <p:nvPr/>
        </p:nvSpPr>
        <p:spPr>
          <a:xfrm>
            <a:off x="863600" y="5092700"/>
            <a:ext cx="1046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./gradlew :domain-api:dependencyInsight --dependency mybatis-spring-boot-starter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93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5207D12-517B-D2CA-A125-95023998418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D03981-077E-967B-C8D1-42FEE76FC4F0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4A3E50-2365-0696-F8B6-7236E751E5EA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33BB7-F89F-6E4B-B8D6-2F71240763EC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7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7861C-3529-293F-C600-DE671A6C197E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모듈 실행 ①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launch.json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구성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8E82F-1399-227C-2880-0617C53389FD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1530A-9B9F-7BB4-D77B-BCCAA5610CC6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10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B28DD80-0E20-E874-41F3-CB88708D0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094333"/>
              </p:ext>
            </p:extLst>
          </p:nvPr>
        </p:nvGraphicFramePr>
        <p:xfrm>
          <a:off x="762000" y="1397000"/>
          <a:ext cx="10668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24299938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15884156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76955320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42151661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모듈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포트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진입점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64568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ApiApplication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domain-api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8080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com.paycoms.cp7.api.ApiApplication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4707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BatchApplication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domain-batch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8081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com.paycoms.cp7.batch.BatchApplication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0906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BankroApplication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domain-bankro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8082 + TCP 17340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com.paycoms.cp7.bankro.BankroApplication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34287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NexusApplication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domain-nexus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(yml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확인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com.paycoms.cp7.nexus.NexusApplication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4072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60CD404-0144-B4A5-7BFE-9B1A651542D3}"/>
              </a:ext>
            </a:extLst>
          </p:cNvPr>
          <p:cNvSpPr txBox="1"/>
          <p:nvPr/>
        </p:nvSpPr>
        <p:spPr>
          <a:xfrm>
            <a:off x="762000" y="4826000"/>
            <a:ext cx="1066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✏ domain-admin (8083) · domain-watch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는 미등록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동일 패턴으로 추가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34AE9-C9FB-C8CA-2219-6026B9112884}"/>
              </a:ext>
            </a:extLst>
          </p:cNvPr>
          <p:cNvSpPr txBox="1"/>
          <p:nvPr/>
        </p:nvSpPr>
        <p:spPr>
          <a:xfrm>
            <a:off x="762000" y="5207000"/>
            <a:ext cx="10668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50" charset="-127"/>
              </a:rPr>
              <a:t>실행</a:t>
            </a:r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</a:rPr>
              <a:t>: Run and Debug (Ctrl+Shift+D) → </a:t>
            </a:r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50" charset="-127"/>
              </a:rPr>
              <a:t>구성 선택 → </a:t>
            </a:r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50" charset="-127"/>
              </a:rPr>
              <a:t>F5</a:t>
            </a:r>
            <a:endParaRPr lang="ko-KR" altLang="en-US" sz="1300" b="1">
              <a:solidFill>
                <a:srgbClr val="2563E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23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B60FE6A-F0D9-7CA9-355F-D454B6FEA95E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9FF64C-23E7-8D53-D0F2-2CEDE6A4F032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C27F49-5771-9E90-532F-3C991D05ADC0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8A2C6-23D6-D42D-605B-0A9C15572DC8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7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70892-55CD-E605-9743-97A11AB710A4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모듈 실행 ② 순서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정상 기동 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72518-5335-46DF-46FF-709BBE159E54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343E8-1431-814F-0980-14E433D600C0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11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65789-83B4-7DD8-CB18-E8041962A83F}"/>
              </a:ext>
            </a:extLst>
          </p:cNvPr>
          <p:cNvSpPr txBox="1"/>
          <p:nvPr/>
        </p:nvSpPr>
        <p:spPr>
          <a:xfrm>
            <a:off x="762000" y="1397000"/>
            <a:ext cx="10668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600" b="1">
                <a:solidFill>
                  <a:srgbClr val="2563EB"/>
                </a:solidFill>
                <a:latin typeface="맑은 고딕" panose="020B0503020000020004" pitchFamily="50" charset="-127"/>
              </a:rPr>
              <a:t>실행 순서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7B5EE-1A0A-DFBC-9DAA-B99F5ED367C4}"/>
              </a:ext>
            </a:extLst>
          </p:cNvPr>
          <p:cNvSpPr txBox="1"/>
          <p:nvPr/>
        </p:nvSpPr>
        <p:spPr>
          <a:xfrm>
            <a:off x="762000" y="1778000"/>
            <a:ext cx="10668000" cy="1046440"/>
          </a:xfrm>
          <a:prstGeom prst="rect">
            <a:avLst/>
          </a:prstGeom>
          <a:noFill/>
        </p:spPr>
        <p:txBody>
          <a:bodyPr vert="horz" wrap="square" lIns="76200" rIns="76200" rtlCol="0">
            <a:spAutoFit/>
          </a:bodyPr>
          <a:lstStyle/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인프라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(MySQL/Redis) 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먼저 → 그다음 애플리케이션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domain-nexus 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nexus-* 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라이브러리를 함께 묶어 띄움 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별도 실행 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X)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domain-batch 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domain-batch-shinhan 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을 함께 묶음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domain-bankro 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TCP 17340 </a:t>
            </a: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포트도 점유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8C31EA9-C780-B7F4-C76B-F09D9E65D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194319"/>
              </p:ext>
            </p:extLst>
          </p:nvPr>
        </p:nvGraphicFramePr>
        <p:xfrm>
          <a:off x="762000" y="3619500"/>
          <a:ext cx="1066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124040786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62212093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모듈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확인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URL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0393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domain-api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http://localhost:8080/api/swagger-ui.html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69466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domain-admin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http://localhost:8083/api/swagger-ui.html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5356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domain-batch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http://localhost:8081/api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4566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domain-bankro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http://localhost:8082/api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746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367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AFBECA-862C-095B-44CE-37F3D96E182F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268F40-84D1-ABBF-EEA9-96DB83E3E9B0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10289C-1BCC-9D8E-3B4C-4123456853F2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7BD04-1217-43E3-4982-8AC3B7A7B120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8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D9234-C3AC-5B4E-2839-667D3624914B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자주 쓰는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Gradle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작업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A03BA-33C7-E4F6-38BC-9565C3ED75ED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8EA68-61DC-230E-450A-6D9B622D00A1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12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B6FF47-65F4-54D6-85C6-79F0DB779319}"/>
              </a:ext>
            </a:extLst>
          </p:cNvPr>
          <p:cNvSpPr/>
          <p:nvPr/>
        </p:nvSpPr>
        <p:spPr>
          <a:xfrm>
            <a:off x="762000" y="1524000"/>
            <a:ext cx="10668000" cy="330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1EBD0-00EC-8A36-5601-90E3B4760880}"/>
              </a:ext>
            </a:extLst>
          </p:cNvPr>
          <p:cNvSpPr txBox="1"/>
          <p:nvPr/>
        </p:nvSpPr>
        <p:spPr>
          <a:xfrm>
            <a:off x="863600" y="1600200"/>
            <a:ext cx="104648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# CLI </a:t>
            </a:r>
            <a:r>
              <a:rPr lang="ko-KR" altLang="en-US" sz="1200">
                <a:solidFill>
                  <a:srgbClr val="E2E8F0"/>
                </a:solidFill>
                <a:latin typeface="Consolas" panose="020B0609020204030204" pitchFamily="49" charset="0"/>
              </a:rPr>
              <a:t>실행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./gradlew :domain-api:bootRun</a:t>
            </a:r>
          </a:p>
          <a:p>
            <a:endParaRPr lang="en-US" altLang="ko-KR" sz="1200">
              <a:solidFill>
                <a:srgbClr val="E2E8F0"/>
              </a:solidFill>
              <a:latin typeface="Consolas" panose="020B0609020204030204" pitchFamily="49" charset="0"/>
            </a:endParaRP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>
                <a:solidFill>
                  <a:srgbClr val="E2E8F0"/>
                </a:solidFill>
                <a:latin typeface="Consolas" panose="020B0609020204030204" pitchFamily="49" charset="0"/>
              </a:rPr>
              <a:t>단위 테스트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./gradlew :domain-api:test</a:t>
            </a:r>
          </a:p>
          <a:p>
            <a:endParaRPr lang="en-US" altLang="ko-KR" sz="1200">
              <a:solidFill>
                <a:srgbClr val="E2E8F0"/>
              </a:solidFill>
              <a:latin typeface="Consolas" panose="020B0609020204030204" pitchFamily="49" charset="0"/>
            </a:endParaRP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>
                <a:solidFill>
                  <a:srgbClr val="E2E8F0"/>
                </a:solidFill>
                <a:latin typeface="Consolas" panose="020B0609020204030204" pitchFamily="49" charset="0"/>
              </a:rPr>
              <a:t>의존성 트리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./gradlew dependencies --configuration runtimeClasspath</a:t>
            </a:r>
          </a:p>
          <a:p>
            <a:endParaRPr lang="en-US" altLang="ko-KR" sz="1200">
              <a:solidFill>
                <a:srgbClr val="E2E8F0"/>
              </a:solidFill>
              <a:latin typeface="Consolas" panose="020B0609020204030204" pitchFamily="49" charset="0"/>
            </a:endParaRP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>
                <a:solidFill>
                  <a:srgbClr val="E2E8F0"/>
                </a:solidFill>
                <a:latin typeface="Consolas" panose="020B0609020204030204" pitchFamily="49" charset="0"/>
              </a:rPr>
              <a:t>특정 의존성 추적</a:t>
            </a:r>
          </a:p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./gradlew :domain-api:dependencyInsight --dependency mybatis-spring-boot-starter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824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8877156-7B43-631A-7D05-47820FF02A5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6C8AFB-99C7-BEA3-7017-9914978CE10A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D790F-6A3A-0C9B-E978-5F14896CBC3B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7F392-7E23-894D-FB07-8E4901580C95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9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B4B3B-FAC8-7182-EE66-E886DBB8D746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트러블슈팅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94DD9-5577-EB89-97F8-7046740230B2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1017C-3664-8687-2DC1-D3D764BCFA7E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13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F02769A-509E-D53E-74F1-C6AB283FF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088843"/>
              </p:ext>
            </p:extLst>
          </p:nvPr>
        </p:nvGraphicFramePr>
        <p:xfrm>
          <a:off x="762000" y="1333500"/>
          <a:ext cx="10668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439238092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602903967"/>
                    </a:ext>
                  </a:extLst>
                </a:gridCol>
              </a:tblGrid>
              <a:tr h="536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증상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원인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해결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354837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Could not resolve all files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사내 프록시 →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~/.gradle/gradle.properties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proxy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103005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Access denied for user 'cleanpay'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init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미실행 →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docker compose down -v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후 재기동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202064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Port already in use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로컬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MySQL/Redis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와 충돌 → 로컬 서비스 중지 또는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compose ports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821592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Lombok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적용 안 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Java: Clean Java Language Server Workspace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93242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MapStruct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생성 클래스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./gradlew clean build → Java: Clean Workspace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583911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못 찾음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src/main/resources/mapper/**/*.xml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배치 확인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28879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p6spy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로그 과다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application-common.yml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p6spy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레벨을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INFO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623825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redis connection refused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docker ps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로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cp7-redis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기동 확인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48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013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B53D5E-A0A0-F061-3837-C7DE54018C3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8EC344-46B5-0A34-514B-9E88F2411102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534B08-C717-24F9-6C1F-AECB34E34571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75CA2-7383-3453-1482-68E930BBF03C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10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71B28-A22F-D604-CCC8-AD2EE4B22FD3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일상 개발 사이클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2F098-3ADB-27A0-AFBC-AF74F085F732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92A177-2129-0B03-7EF7-9DFC175BF7E1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14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522BB-7AEF-E55A-8359-C4346B93D79F}"/>
              </a:ext>
            </a:extLst>
          </p:cNvPr>
          <p:cNvSpPr txBox="1"/>
          <p:nvPr/>
        </p:nvSpPr>
        <p:spPr>
          <a:xfrm>
            <a:off x="762000" y="1397000"/>
            <a:ext cx="1066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1) 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인프라 기동 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최초 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회 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/ PC 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재부팅 후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)</a:t>
            </a:r>
            <a:endParaRPr lang="ko-KR" altLang="en-US" sz="1400" b="1">
              <a:solidFill>
                <a:srgbClr val="2563E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74EF6-CADF-73F7-E9BE-B4A45A25EBA3}"/>
              </a:ext>
            </a:extLst>
          </p:cNvPr>
          <p:cNvSpPr/>
          <p:nvPr/>
        </p:nvSpPr>
        <p:spPr>
          <a:xfrm>
            <a:off x="762000" y="1841500"/>
            <a:ext cx="10668000" cy="508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55706-FAC9-8245-3C60-0B3394703528}"/>
              </a:ext>
            </a:extLst>
          </p:cNvPr>
          <p:cNvSpPr txBox="1"/>
          <p:nvPr/>
        </p:nvSpPr>
        <p:spPr>
          <a:xfrm>
            <a:off x="863600" y="1917700"/>
            <a:ext cx="1046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docker compose -f docker/docker-compose.yml up -d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EFCC2-1B41-2FF3-FCF5-E095A46C3EFD}"/>
              </a:ext>
            </a:extLst>
          </p:cNvPr>
          <p:cNvSpPr txBox="1"/>
          <p:nvPr/>
        </p:nvSpPr>
        <p:spPr>
          <a:xfrm>
            <a:off x="762000" y="2540000"/>
            <a:ext cx="1066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2) VSCode 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에서 작업할 모듈 선택 → 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F5</a:t>
            </a:r>
            <a:endParaRPr lang="ko-KR" altLang="en-US" sz="1400" b="1">
              <a:solidFill>
                <a:srgbClr val="2563E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45599-57A4-ED66-8E9A-FE8639B55FE8}"/>
              </a:ext>
            </a:extLst>
          </p:cNvPr>
          <p:cNvSpPr txBox="1"/>
          <p:nvPr/>
        </p:nvSpPr>
        <p:spPr>
          <a:xfrm>
            <a:off x="762000" y="3429000"/>
            <a:ext cx="1066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3) 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종료 후 인프라 정리 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선택</a:t>
            </a:r>
            <a:r>
              <a:rPr lang="en-US" altLang="ko-KR" sz="1400" b="1">
                <a:solidFill>
                  <a:srgbClr val="2563EB"/>
                </a:solidFill>
                <a:latin typeface="맑은 고딕" panose="020B0503020000020004" pitchFamily="50" charset="-127"/>
              </a:rPr>
              <a:t>)</a:t>
            </a:r>
            <a:endParaRPr lang="ko-KR" altLang="en-US" sz="1400" b="1">
              <a:solidFill>
                <a:srgbClr val="2563E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329BC4-2325-05EB-E5DA-ABDD8D1112FB}"/>
              </a:ext>
            </a:extLst>
          </p:cNvPr>
          <p:cNvSpPr/>
          <p:nvPr/>
        </p:nvSpPr>
        <p:spPr>
          <a:xfrm>
            <a:off x="762000" y="3873500"/>
            <a:ext cx="10668000" cy="508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365E0-1246-5859-9867-86F81123BCF2}"/>
              </a:ext>
            </a:extLst>
          </p:cNvPr>
          <p:cNvSpPr txBox="1"/>
          <p:nvPr/>
        </p:nvSpPr>
        <p:spPr>
          <a:xfrm>
            <a:off x="863600" y="3949700"/>
            <a:ext cx="104648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E2E8F0"/>
                </a:solidFill>
                <a:latin typeface="Consolas" panose="020B0609020204030204" pitchFamily="49" charset="0"/>
              </a:rPr>
              <a:t>docker compose -f docker/docker-compose.yml stop</a:t>
            </a:r>
            <a:endParaRPr lang="ko-KR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08E8-2827-4A88-BF85-EAE68ED2EB9C}"/>
              </a:ext>
            </a:extLst>
          </p:cNvPr>
          <p:cNvSpPr txBox="1"/>
          <p:nvPr/>
        </p:nvSpPr>
        <p:spPr>
          <a:xfrm>
            <a:off x="762000" y="4572000"/>
            <a:ext cx="1066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devtools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가 활성화돼 있어 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.java </a:t>
            </a:r>
            <a:r>
              <a:rPr lang="ko-KR" altLang="en-US" sz="1200">
                <a:solidFill>
                  <a:srgbClr val="64748B"/>
                </a:solidFill>
                <a:latin typeface="맑은 고딕" panose="020B0503020000020004" pitchFamily="50" charset="-127"/>
              </a:rPr>
              <a:t>저장 시 자동 재시작됩니다</a:t>
            </a:r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844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E06152-A267-38BB-46C7-55E2D2B5594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6817BF-7EBB-7435-7B8A-B69146144B2A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AEF160-DD10-F632-FD5A-9C84C4F9D016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BFD6E-32BA-4C90-25C6-1EF50F4BC00E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A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DA49C-A0C4-1B3B-2D7F-56B7DC6C15F4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부록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A ·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모듈 책임 매트릭스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70779-CA5C-152C-003C-54A6158A0919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7EBF0-A998-B03D-7C37-C145EF70F831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15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B7BAF14-AB9E-C026-B044-7BAE6FF1E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62686"/>
              </p:ext>
            </p:extLst>
          </p:nvPr>
        </p:nvGraphicFramePr>
        <p:xfrm>
          <a:off x="762000" y="1333500"/>
          <a:ext cx="10668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1889659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4059914630"/>
                    </a:ext>
                  </a:extLst>
                </a:gridCol>
              </a:tblGrid>
              <a:tr h="536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작업 종류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배치 모듈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089757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신규 비즈니스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API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domain-api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258123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관리자 화면용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API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domain-admin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703771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외부 은행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기관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domain-nexus-&lt;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&gt; ·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통합은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domain-nexus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409470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스케줄 배치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domain-batch-&lt;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&gt; ·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실행은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domain-batch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314864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실시간 모니터링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domain-watch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512482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은행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TCP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소켓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domain-bankro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394622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모듈 공통 유틸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예외 </a:t>
                      </a:r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global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583638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JWT / </a:t>
                      </a:r>
                      <a:r>
                        <a:rPr lang="ko-KR" altLang="en-US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인증 공통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>
                          <a:solidFill>
                            <a:srgbClr val="0F172A"/>
                          </a:solidFill>
                          <a:latin typeface="맑은 고딕" panose="020B0503020000020004" pitchFamily="50" charset="-127"/>
                        </a:rPr>
                        <a:t>global-auth</a:t>
                      </a:r>
                      <a:endParaRPr lang="ko-KR" altLang="en-US" sz="1200">
                        <a:solidFill>
                          <a:srgbClr val="0F172A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97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252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9165DCC-6E29-8536-82AB-D1FC8049E6B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621239-4338-AF78-F2FC-D6AD2ED9EE99}"/>
              </a:ext>
            </a:extLst>
          </p:cNvPr>
          <p:cNvSpPr/>
          <p:nvPr/>
        </p:nvSpPr>
        <p:spPr>
          <a:xfrm>
            <a:off x="0" y="762000"/>
            <a:ext cx="76200" cy="6096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5CAC55-4522-B17B-548A-66B27ACC905B}"/>
              </a:ext>
            </a:extLst>
          </p:cNvPr>
          <p:cNvSpPr/>
          <p:nvPr/>
        </p:nvSpPr>
        <p:spPr>
          <a:xfrm>
            <a:off x="304800" y="177800"/>
            <a:ext cx="711200" cy="406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A5DA5-C2F9-812B-66B8-E72024665B84}"/>
              </a:ext>
            </a:extLst>
          </p:cNvPr>
          <p:cNvSpPr txBox="1"/>
          <p:nvPr/>
        </p:nvSpPr>
        <p:spPr>
          <a:xfrm>
            <a:off x="304800" y="177800"/>
            <a:ext cx="711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B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7E542-A147-D1F4-3431-A7A8B6264B8E}"/>
              </a:ext>
            </a:extLst>
          </p:cNvPr>
          <p:cNvSpPr txBox="1"/>
          <p:nvPr/>
        </p:nvSpPr>
        <p:spPr>
          <a:xfrm>
            <a:off x="1219200" y="152400"/>
            <a:ext cx="1016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부록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B ·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모듈 내부 레이어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9D574-4466-CA04-EF6D-B48991868541}"/>
              </a:ext>
            </a:extLst>
          </p:cNvPr>
          <p:cNvSpPr txBox="1"/>
          <p:nvPr/>
        </p:nvSpPr>
        <p:spPr>
          <a:xfrm>
            <a:off x="304800" y="6477000"/>
            <a:ext cx="762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CP7 VSCode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개발환경 구성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E5F41-902C-51F0-99C0-5B373C8581C8}"/>
              </a:ext>
            </a:extLst>
          </p:cNvPr>
          <p:cNvSpPr txBox="1"/>
          <p:nvPr/>
        </p:nvSpPr>
        <p:spPr>
          <a:xfrm>
            <a:off x="11176000" y="6477000"/>
            <a:ext cx="762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16</a:t>
            </a:r>
            <a:endParaRPr lang="ko-KR" altLang="en-US" sz="10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F1E41-F722-17F3-1929-63B05D591F1C}"/>
              </a:ext>
            </a:extLst>
          </p:cNvPr>
          <p:cNvSpPr txBox="1"/>
          <p:nvPr/>
        </p:nvSpPr>
        <p:spPr>
          <a:xfrm>
            <a:off x="762000" y="1524000"/>
            <a:ext cx="10668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600" b="1">
                <a:solidFill>
                  <a:srgbClr val="2563EB"/>
                </a:solidFill>
                <a:latin typeface="맑은 고딕" panose="020B0503020000020004" pitchFamily="50" charset="-127"/>
              </a:rPr>
              <a:t>도메인 모듈 표준 레이어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53A5C-57E2-8798-6691-37C0AF3FBC75}"/>
              </a:ext>
            </a:extLst>
          </p:cNvPr>
          <p:cNvSpPr txBox="1"/>
          <p:nvPr/>
        </p:nvSpPr>
        <p:spPr>
          <a:xfrm>
            <a:off x="762000" y="1968500"/>
            <a:ext cx="10668000" cy="1374735"/>
          </a:xfrm>
          <a:prstGeom prst="rect">
            <a:avLst/>
          </a:prstGeom>
          <a:noFill/>
        </p:spPr>
        <p:txBody>
          <a:bodyPr vert="horz" wrap="square" lIns="76200" rIns="76200" rtlCol="0">
            <a:spAutoFit/>
          </a:bodyPr>
          <a:lstStyle/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controller — REST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엔드포인트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service —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비즈니스 로직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mapper — MyBatis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인터페이스 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(+ resources/mapper/*.xml)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model — Entity /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도메인 객체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dto — 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요청</a:t>
            </a:r>
            <a:r>
              <a:rPr lang="en-US" altLang="ko-KR" sz="1400">
                <a:solidFill>
                  <a:srgbClr val="0F172A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0F172A"/>
                </a:solidFill>
                <a:latin typeface="맑은 고딕" panose="020B0503020000020004" pitchFamily="50" charset="-127"/>
              </a:rPr>
              <a:t>응답 데이터 모델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1D006-72E7-2CAA-2646-A3D7610E5DF1}"/>
              </a:ext>
            </a:extLst>
          </p:cNvPr>
          <p:cNvSpPr txBox="1"/>
          <p:nvPr/>
        </p:nvSpPr>
        <p:spPr>
          <a:xfrm>
            <a:off x="762000" y="4635500"/>
            <a:ext cx="10668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600" b="1">
                <a:solidFill>
                  <a:srgbClr val="0EA5E9"/>
                </a:solidFill>
                <a:latin typeface="맑은 고딕" panose="020B0503020000020004" pitchFamily="50" charset="-127"/>
              </a:rPr>
              <a:t>패키지 묶음 컨벤션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25A30-707D-CF68-0724-7F919562C391}"/>
              </a:ext>
            </a:extLst>
          </p:cNvPr>
          <p:cNvSpPr txBox="1"/>
          <p:nvPr/>
        </p:nvSpPr>
        <p:spPr>
          <a:xfrm>
            <a:off x="762000" y="5080000"/>
            <a:ext cx="10668000" cy="543739"/>
          </a:xfrm>
          <a:prstGeom prst="rect">
            <a:avLst/>
          </a:prstGeom>
          <a:noFill/>
        </p:spPr>
        <p:txBody>
          <a:bodyPr vert="horz" wrap="square" lIns="76200" rIns="76200" rtlCol="0">
            <a:spAutoFit/>
          </a:bodyPr>
          <a:lstStyle/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기능별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: auth, common, infrastructure</a:t>
            </a:r>
          </a:p>
          <a:p>
            <a:pPr indent="-285750">
              <a:spcAft>
                <a:spcPts val="400"/>
              </a:spcAft>
              <a:buClr>
                <a:srgbClr val="2563EB"/>
              </a:buClr>
              <a:buChar char="•"/>
            </a:pPr>
            <a:r>
              <a:rPr lang="ko-KR" altLang="en-US" sz="1300">
                <a:solidFill>
                  <a:srgbClr val="0F172A"/>
                </a:solidFill>
                <a:latin typeface="맑은 고딕" panose="020B0503020000020004" pitchFamily="50" charset="-127"/>
              </a:rPr>
              <a:t>채널별</a:t>
            </a:r>
            <a:r>
              <a:rPr lang="en-US" altLang="ko-KR" sz="1300">
                <a:solidFill>
                  <a:srgbClr val="0F172A"/>
                </a:solidFill>
                <a:latin typeface="맑은 고딕" panose="020B0503020000020004" pitchFamily="50" charset="-127"/>
              </a:rPr>
              <a:t>: shinhan, jeju, openapi, unipost</a:t>
            </a:r>
            <a:endParaRPr lang="ko-KR" altLang="en-US" sz="1300">
              <a:solidFill>
                <a:srgbClr val="0F172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660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B6A0F8-02DF-0F85-9371-F996867CB8D2}"/>
              </a:ext>
            </a:extLst>
          </p:cNvPr>
          <p:cNvSpPr/>
          <p:nvPr/>
        </p:nvSpPr>
        <p:spPr>
          <a:xfrm>
            <a:off x="0" y="4826000"/>
            <a:ext cx="121920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6BA05-6E57-9E51-4F9E-B8297C05E9F7}"/>
              </a:ext>
            </a:extLst>
          </p:cNvPr>
          <p:cNvSpPr txBox="1"/>
          <p:nvPr/>
        </p:nvSpPr>
        <p:spPr>
          <a:xfrm>
            <a:off x="1016000" y="2794000"/>
            <a:ext cx="10160000" cy="72840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4400" b="1">
                <a:solidFill>
                  <a:srgbClr val="FFFFFF"/>
                </a:solidFill>
                <a:latin typeface="맑은 고딕" panose="020B0503020000020004" pitchFamily="50" charset="-127"/>
              </a:rPr>
              <a:t>Happy Coding!</a:t>
            </a:r>
            <a:endParaRPr lang="ko-KR" altLang="en-US" sz="4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98FE5-2884-23CB-EEF6-08749C9A22F3}"/>
              </a:ext>
            </a:extLst>
          </p:cNvPr>
          <p:cNvSpPr txBox="1"/>
          <p:nvPr/>
        </p:nvSpPr>
        <p:spPr>
          <a:xfrm>
            <a:off x="1016000" y="3683000"/>
            <a:ext cx="10160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ko-KR" altLang="en-US" sz="1600">
                <a:solidFill>
                  <a:srgbClr val="94A3B8"/>
                </a:solidFill>
                <a:latin typeface="맑은 고딕" panose="020B0503020000020004" pitchFamily="50" charset="-127"/>
              </a:rPr>
              <a:t>문의 </a:t>
            </a:r>
            <a:r>
              <a:rPr lang="en-US" altLang="ko-KR" sz="1600">
                <a:solidFill>
                  <a:srgbClr val="94A3B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94A3B8"/>
                </a:solidFill>
                <a:latin typeface="맑은 고딕" panose="020B0503020000020004" pitchFamily="50" charset="-127"/>
              </a:rPr>
              <a:t>개선 제안은 팀 채널로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3FDA4-C6B4-3730-3EDA-4373FD7B4E6C}"/>
              </a:ext>
            </a:extLst>
          </p:cNvPr>
          <p:cNvSpPr txBox="1"/>
          <p:nvPr/>
        </p:nvSpPr>
        <p:spPr>
          <a:xfrm>
            <a:off x="1016000" y="5207000"/>
            <a:ext cx="1016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ko-KR" sz="1200">
                <a:solidFill>
                  <a:srgbClr val="64748B"/>
                </a:solidFill>
                <a:latin typeface="맑은 고딕" panose="020B0503020000020004" pitchFamily="50" charset="-127"/>
              </a:rPr>
              <a:t>CP7 · Paycoms</a:t>
            </a:r>
            <a:endParaRPr lang="ko-KR" altLang="en-US" sz="1200">
              <a:solidFill>
                <a:srgbClr val="64748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27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Microsoft Office PowerPoint</Application>
  <PresentationFormat>사용자 지정</PresentationFormat>
  <Paragraphs>261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익현 경</dc:creator>
  <cp:lastModifiedBy>익현 경</cp:lastModifiedBy>
  <cp:revision>1</cp:revision>
  <dcterms:created xsi:type="dcterms:W3CDTF">2026-06-02T02:04:42Z</dcterms:created>
  <dcterms:modified xsi:type="dcterms:W3CDTF">2026-06-02T02:04:42Z</dcterms:modified>
</cp:coreProperties>
</file>